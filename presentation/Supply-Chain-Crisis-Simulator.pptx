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Merriweather Bold"/>
      <p:regular r:id="rId201314"/>
    </p:embeddedFont>
    <p:embeddedFont>
      <p:font typeface="Open Sans Bold"/>
      <p:regular r:id="rId201315"/>
    </p:embeddedFont>
    <p:embeddedFont>
      <p:font typeface="Open Sans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626295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ChainMind AI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500412"/>
            <a:ext cx="6296860" cy="1630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Supply Chain Crisis Simulator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661475" y="4414242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b="1" dirty="0">
                <a:solidFill>
                  <a:srgbClr val="FFAD94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Predict. Simulate. Compare. Optimize. Recover.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Team Y2MS · AI Track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620995" cy="143470"/>
          </a:xfrm>
          <a:prstGeom prst="roundRect">
            <a:avLst>
              <a:gd name="adj" fmla="val 22134"/>
            </a:avLst>
          </a:prstGeom>
          <a:solidFill>
            <a:srgbClr val="FFD8CC"/>
          </a:solidFill>
          <a:ln/>
        </p:spPr>
      </p:sp>
      <p:sp>
        <p:nvSpPr>
          <p:cNvPr id="3" name="Text 1"/>
          <p:cNvSpPr/>
          <p:nvPr/>
        </p:nvSpPr>
        <p:spPr>
          <a:xfrm>
            <a:off x="718127" y="548084"/>
            <a:ext cx="1117274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PROBLEM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When One Node Fails, the Whole Supply Chain Can Feel It</a:t>
            </a:r>
            <a:endParaRPr lang="en-US" sz="1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01328"/>
            <a:ext cx="5319083" cy="5319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17487" y="3465711"/>
            <a:ext cx="5319083" cy="616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Modern supply chains are deeply interconnected networks — a disruption at any single node propagates downstream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Traditional monitoring shows 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03C4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current or historical conditions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not potential consequences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real challenge is not detecting a crisis — it's 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03C4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deciding what to do next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Decision-makers need to understand downstream effects 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03C4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before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committing to a response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666138" cy="143470"/>
          </a:xfrm>
          <a:prstGeom prst="roundRect">
            <a:avLst>
              <a:gd name="adj" fmla="val 22134"/>
            </a:avLst>
          </a:prstGeom>
          <a:solidFill>
            <a:srgbClr val="FFD8CC"/>
          </a:solidFill>
          <a:ln/>
        </p:spPr>
      </p:sp>
      <p:sp>
        <p:nvSpPr>
          <p:cNvPr id="3" name="Text 1"/>
          <p:cNvSpPr/>
          <p:nvPr/>
        </p:nvSpPr>
        <p:spPr>
          <a:xfrm>
            <a:off x="718127" y="548084"/>
            <a:ext cx="1162418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OUR SOLUTION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ChainMind AI Turns Crisis Uncertainty Into Simulatable Decisions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590826"/>
            <a:ext cx="5319083" cy="3402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ChainMind is an AI-powered supply-chain crisis simulator — a digital twin that models your network, introduces disruption scenarios, and simulates how those disruptions propagate. Instead of asking </a:t>
            </a:r>
            <a:pPr algn="l" indent="0" marL="0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"What is happening?"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ChainMind asks </a:t>
            </a:r>
            <a:pPr algn="l" indent="0" marL="0">
              <a:lnSpc>
                <a:spcPct val="100000"/>
              </a:lnSpc>
              <a:buNone/>
            </a:pPr>
            <a:r>
              <a:rPr lang="en-US" sz="700" i="1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"What happens if we change the decision?"</a:t>
            </a:r>
            <a:endParaRPr lang="en-US" sz="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487" y="1101328"/>
            <a:ext cx="5319083" cy="53192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662070" cy="143470"/>
          </a:xfrm>
          <a:prstGeom prst="roundRect">
            <a:avLst>
              <a:gd name="adj" fmla="val 22134"/>
            </a:avLst>
          </a:prstGeom>
          <a:solidFill>
            <a:srgbClr val="FFD8CC"/>
          </a:solidFill>
          <a:ln/>
        </p:spPr>
      </p:sp>
      <p:sp>
        <p:nvSpPr>
          <p:cNvPr id="3" name="Text 1"/>
          <p:cNvSpPr/>
          <p:nvPr/>
        </p:nvSpPr>
        <p:spPr>
          <a:xfrm>
            <a:off x="718127" y="548084"/>
            <a:ext cx="1158350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HOW IT WORKS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From Supply-Chain Data to Action</a:t>
            </a:r>
            <a:endParaRPr lang="en-US" sz="1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48246"/>
            <a:ext cx="9753356" cy="54864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658772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stage transforms raw data into progressively more actionable intelligence — from network modeling through simulation, ML-based risk assessment, and scenario comparison, all the way to optimized decision support.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602838" cy="143470"/>
          </a:xfrm>
          <a:prstGeom prst="roundRect">
            <a:avLst>
              <a:gd name="adj" fmla="val 22134"/>
            </a:avLst>
          </a:prstGeom>
          <a:solidFill>
            <a:srgbClr val="FFD8CC"/>
          </a:solidFill>
          <a:ln/>
        </p:spPr>
      </p:sp>
      <p:sp>
        <p:nvSpPr>
          <p:cNvPr id="3" name="Text 1"/>
          <p:cNvSpPr/>
          <p:nvPr/>
        </p:nvSpPr>
        <p:spPr>
          <a:xfrm>
            <a:off x="718127" y="548084"/>
            <a:ext cx="1099118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DIGITAL TWIN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 Living Model of the Supply Chain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387725"/>
            <a:ext cx="531908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ChainMind models all interconnected supply-chain components as a unified network graph. A disruption is evaluated as a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dirty="0">
                <a:solidFill>
                  <a:srgbClr val="403C4E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network event</a:t>
            </a:r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downstream effects are analyzed across the entire system, not in isolation.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661475" y="3657005"/>
            <a:ext cx="5319083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Ports · Warehouses · Routes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Shipments · Fleet assets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Weather &amp; disruption events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Operational &amp; IoT-style readings</a:t>
            </a:r>
            <a:endParaRPr lang="en-US" sz="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487" y="1101328"/>
            <a:ext cx="5319083" cy="53192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6355"/>
            <a:ext cx="903166" cy="161429"/>
          </a:xfrm>
          <a:prstGeom prst="roundRect">
            <a:avLst>
              <a:gd name="adj" fmla="val 22130"/>
            </a:avLst>
          </a:prstGeom>
          <a:solidFill>
            <a:srgbClr val="FFD8CC"/>
          </a:solidFill>
          <a:ln/>
        </p:spPr>
      </p:sp>
      <p:sp>
        <p:nvSpPr>
          <p:cNvPr id="3" name="Text 1"/>
          <p:cNvSpPr/>
          <p:nvPr/>
        </p:nvSpPr>
        <p:spPr>
          <a:xfrm>
            <a:off x="725172" y="558205"/>
            <a:ext cx="1385357" cy="9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6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CRISIS SIMULATION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61475" y="711696"/>
            <a:ext cx="10868745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Simulate the Crisis Before Making the Decision</a:t>
            </a:r>
            <a:endParaRPr lang="en-US" sz="20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200845"/>
            <a:ext cx="6973911" cy="39519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01087" y="2723753"/>
            <a:ext cx="3635482" cy="398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Configure a disruption scenario, run the simulation, and immediately see which components are affected — with estimated impact and risk surfaced before any real-world action is taken.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7901087" y="3189883"/>
            <a:ext cx="3635482" cy="426442"/>
          </a:xfrm>
          <a:prstGeom prst="roundRect">
            <a:avLst>
              <a:gd name="adj" fmla="val 10472"/>
            </a:avLst>
          </a:prstGeom>
          <a:solidFill>
            <a:srgbClr val="FFD8C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7348" y="3284637"/>
            <a:ext cx="132851" cy="10626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46459" y="3270151"/>
            <a:ext cx="3183850" cy="265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"What happens if this disruption occurs?"</a:t>
            </a:r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ChainMind answers before you act.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661475" y="5287367"/>
            <a:ext cx="212620" cy="132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01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661475" y="5455245"/>
            <a:ext cx="3583096" cy="1270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12" name="Text 8"/>
          <p:cNvSpPr/>
          <p:nvPr/>
        </p:nvSpPr>
        <p:spPr>
          <a:xfrm>
            <a:off x="661475" y="5533727"/>
            <a:ext cx="3583096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Configure Crisis Scenario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304299" y="5287367"/>
            <a:ext cx="212620" cy="132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02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4304299" y="5455245"/>
            <a:ext cx="3583096" cy="1270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15" name="Text 11"/>
          <p:cNvSpPr/>
          <p:nvPr/>
        </p:nvSpPr>
        <p:spPr>
          <a:xfrm>
            <a:off x="4304299" y="5533727"/>
            <a:ext cx="3583096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Run Simulation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7947124" y="5287367"/>
            <a:ext cx="212620" cy="132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7947124" y="5455245"/>
            <a:ext cx="3583096" cy="1270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18" name="Text 14"/>
          <p:cNvSpPr/>
          <p:nvPr/>
        </p:nvSpPr>
        <p:spPr>
          <a:xfrm>
            <a:off x="7947124" y="5533727"/>
            <a:ext cx="3583096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Identify Affected Components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661475" y="5839321"/>
            <a:ext cx="212620" cy="132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04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661475" y="6007199"/>
            <a:ext cx="5404509" cy="1270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21" name="Text 17"/>
          <p:cNvSpPr/>
          <p:nvPr/>
        </p:nvSpPr>
        <p:spPr>
          <a:xfrm>
            <a:off x="661475" y="6085681"/>
            <a:ext cx="5404509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Estimate Impact &amp; Risk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125712" y="5839321"/>
            <a:ext cx="212620" cy="132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00" dirty="0">
                <a:solidFill>
                  <a:srgbClr val="403C4E"/>
                </a:solidFill>
                <a:latin typeface="Merriweather Light" pitchFamily="34" charset="0"/>
                <a:ea typeface="Merriweather Light" pitchFamily="34" charset="-122"/>
                <a:cs typeface="Merriweather Light" pitchFamily="34" charset="-120"/>
              </a:rPr>
              <a:t>05</a:t>
            </a:r>
            <a:endParaRPr lang="en-US" sz="800" dirty="0"/>
          </a:p>
        </p:txBody>
      </p:sp>
      <p:sp>
        <p:nvSpPr>
          <p:cNvPr id="23" name="Shape 19"/>
          <p:cNvSpPr/>
          <p:nvPr/>
        </p:nvSpPr>
        <p:spPr>
          <a:xfrm>
            <a:off x="6125712" y="6007199"/>
            <a:ext cx="5404509" cy="12700"/>
          </a:xfrm>
          <a:prstGeom prst="rect">
            <a:avLst/>
          </a:prstGeom>
          <a:solidFill>
            <a:srgbClr val="FFAD94"/>
          </a:solidFill>
          <a:ln/>
        </p:spPr>
      </p:sp>
      <p:sp>
        <p:nvSpPr>
          <p:cNvPr id="24" name="Text 20"/>
          <p:cNvSpPr/>
          <p:nvPr/>
        </p:nvSpPr>
        <p:spPr>
          <a:xfrm>
            <a:off x="6125712" y="6085681"/>
            <a:ext cx="5404509" cy="166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Examine Possible Responses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2982"/>
            <a:ext cx="1692729" cy="228898"/>
          </a:xfrm>
          <a:prstGeom prst="roundRect">
            <a:avLst>
              <a:gd name="adj" fmla="val 22110"/>
            </a:avLst>
          </a:prstGeom>
          <a:solidFill>
            <a:srgbClr val="FFD8CC"/>
          </a:solidFill>
          <a:ln/>
        </p:spPr>
      </p:sp>
      <p:sp>
        <p:nvSpPr>
          <p:cNvPr id="3" name="Text 1"/>
          <p:cNvSpPr/>
          <p:nvPr/>
        </p:nvSpPr>
        <p:spPr>
          <a:xfrm>
            <a:off x="751762" y="568127"/>
            <a:ext cx="2121740" cy="1386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/ ML RISK &amp; PREDICTION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799802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Prediction + Risk Analysis</a:t>
            </a:r>
            <a:endParaRPr lang="en-US" sz="29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85317"/>
            <a:ext cx="6936011" cy="39304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71333" y="2566293"/>
            <a:ext cx="3565138" cy="865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ML models are integrated into the simulation workflow to estimate disruption impact. A deterministic fallback ensures the system operates even when trained models are unavailable.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971333" y="3567212"/>
            <a:ext cx="3565138" cy="940594"/>
          </a:xfrm>
          <a:prstGeom prst="roundRect">
            <a:avLst>
              <a:gd name="adj" fmla="val 6726"/>
            </a:avLst>
          </a:prstGeom>
          <a:solidFill>
            <a:srgbClr val="FFD8C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1943" y="3758009"/>
            <a:ext cx="188213" cy="15061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60766" y="3712766"/>
            <a:ext cx="2925094" cy="649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ML helps estimate risk and impact; the simulation engine models system behavior.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61475" y="5785644"/>
            <a:ext cx="2627148" cy="549275"/>
          </a:xfrm>
          <a:prstGeom prst="roundRect">
            <a:avLst>
              <a:gd name="adj" fmla="val 11517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18435" y="5942608"/>
            <a:ext cx="2313227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Delay Prediction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3408575" y="5785644"/>
            <a:ext cx="2627247" cy="549275"/>
          </a:xfrm>
          <a:prstGeom prst="roundRect">
            <a:avLst>
              <a:gd name="adj" fmla="val 11517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565535" y="5942608"/>
            <a:ext cx="2313327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Risk Assessment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6155774" y="5785644"/>
            <a:ext cx="2627247" cy="549275"/>
          </a:xfrm>
          <a:prstGeom prst="roundRect">
            <a:avLst>
              <a:gd name="adj" fmla="val 11517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312734" y="5942608"/>
            <a:ext cx="2313327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Disruption Analysis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8902973" y="5785644"/>
            <a:ext cx="2627247" cy="549275"/>
          </a:xfrm>
          <a:prstGeom prst="roundRect">
            <a:avLst>
              <a:gd name="adj" fmla="val 11517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9059934" y="5942608"/>
            <a:ext cx="2313327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Deterministic Fallback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43024"/>
            <a:ext cx="1083342" cy="201811"/>
          </a:xfrm>
          <a:prstGeom prst="roundRect">
            <a:avLst>
              <a:gd name="adj" fmla="val 22127"/>
            </a:avLst>
          </a:prstGeom>
          <a:solidFill>
            <a:srgbClr val="FFD8CC"/>
          </a:solidFill>
          <a:ln/>
        </p:spPr>
      </p:sp>
      <p:sp>
        <p:nvSpPr>
          <p:cNvPr id="3" name="Text 1"/>
          <p:cNvSpPr/>
          <p:nvPr/>
        </p:nvSpPr>
        <p:spPr>
          <a:xfrm>
            <a:off x="741146" y="582811"/>
            <a:ext cx="1533586" cy="122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WHAT-IF ANALYSIS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61475" y="782141"/>
            <a:ext cx="10868745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What If We Make a Different Decision?</a:t>
            </a:r>
            <a:endParaRPr lang="en-US" sz="2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442641"/>
            <a:ext cx="6951191" cy="39390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943254" y="2826941"/>
            <a:ext cx="3593216" cy="1170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4000"/>
              </a:lnSpc>
              <a:spcAft>
                <a:spcPts val="650"/>
              </a:spcAft>
              <a:buNone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ChainMind's most powerful differentiator: modify scenario assumptions, run parallel simulations, and compare outcomes — with delta analysis showing the impact of each decision path.</a:t>
            </a:r>
            <a:endParaRPr lang="en-US" sz="1000" dirty="0"/>
          </a:p>
          <a:p>
            <a:pPr algn="l" indent="0" marL="0">
              <a:lnSpc>
                <a:spcPct val="114000"/>
              </a:lnSpc>
              <a:buNone/>
            </a:pPr>
            <a:r>
              <a:rPr lang="en-US" sz="1000" b="1" dirty="0">
                <a:solidFill>
                  <a:srgbClr val="FFAD94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Outcome A vs. Outcome B → Delta / Impact Comparison → Better Decision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61475" y="5591870"/>
            <a:ext cx="10868745" cy="723106"/>
          </a:xfrm>
          <a:prstGeom prst="roundRect">
            <a:avLst>
              <a:gd name="adj" fmla="val 7719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67825" y="5598220"/>
            <a:ext cx="5428023" cy="710406"/>
          </a:xfrm>
          <a:custGeom>
            <a:avLst/>
            <a:gdLst/>
            <a:ahLst/>
            <a:cxnLst/>
            <a:rect l="l" t="t" r="r" b="b"/>
            <a:pathLst>
              <a:path w="5428023" h="710406">
                <a:moveTo>
                  <a:pt x="46516" y="0"/>
                </a:moveTo>
                <a:lnTo>
                  <a:pt x="5428023" y="0"/>
                </a:lnTo>
                <a:lnTo>
                  <a:pt x="5428023" y="710406"/>
                </a:lnTo>
                <a:lnTo>
                  <a:pt x="46516" y="710406"/>
                </a:lnTo>
                <a:arcTo hR="46517" wR="46516" stAng="5400000" swAng="5400000"/>
                <a:lnTo>
                  <a:pt x="0" y="46517"/>
                </a:lnTo>
                <a:arcTo hR="46517" wR="46516" stAng="10800000" swAng="5400000"/>
                <a:close/>
              </a:path>
            </a:pathLst>
          </a:custGeom>
          <a:solidFill>
            <a:srgbClr val="FFD8CC"/>
          </a:solidFill>
          <a:ln/>
        </p:spPr>
      </p:sp>
      <p:sp>
        <p:nvSpPr>
          <p:cNvPr id="9" name="Text 6"/>
          <p:cNvSpPr/>
          <p:nvPr/>
        </p:nvSpPr>
        <p:spPr>
          <a:xfrm>
            <a:off x="800675" y="5731073"/>
            <a:ext cx="5162322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Scenario 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00675" y="5994698"/>
            <a:ext cx="5162322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Simulate → Outcome 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95848" y="5598220"/>
            <a:ext cx="5428023" cy="710406"/>
          </a:xfrm>
          <a:custGeom>
            <a:avLst/>
            <a:gdLst/>
            <a:ahLst/>
            <a:cxnLst/>
            <a:rect l="l" t="t" r="r" b="b"/>
            <a:pathLst>
              <a:path w="5428023" h="710406">
                <a:moveTo>
                  <a:pt x="0" y="0"/>
                </a:moveTo>
                <a:lnTo>
                  <a:pt x="5381507" y="0"/>
                </a:lnTo>
                <a:arcTo hR="46517" wR="46516" stAng="16200000" swAng="5400000"/>
                <a:lnTo>
                  <a:pt x="5428023" y="663889"/>
                </a:lnTo>
                <a:arcTo hR="46517" wR="46516" stAng="0" swAng="5400000"/>
                <a:lnTo>
                  <a:pt x="0" y="710406"/>
                </a:lnTo>
                <a:lnTo>
                  <a:pt x="0" y="0"/>
                </a:lnTo>
                <a:close/>
              </a:path>
            </a:pathLst>
          </a:custGeom>
          <a:solidFill>
            <a:srgbClr val="FFD8CC"/>
          </a:solidFill>
          <a:ln/>
        </p:spPr>
      </p:sp>
      <p:sp>
        <p:nvSpPr>
          <p:cNvPr id="12" name="Shape 9"/>
          <p:cNvSpPr/>
          <p:nvPr/>
        </p:nvSpPr>
        <p:spPr>
          <a:xfrm>
            <a:off x="6095848" y="5598220"/>
            <a:ext cx="19050" cy="710406"/>
          </a:xfrm>
          <a:prstGeom prst="roundRect">
            <a:avLst>
              <a:gd name="adj" fmla="val 49999"/>
            </a:avLst>
          </a:prstGeom>
          <a:solidFill>
            <a:srgbClr val="E5BEB2"/>
          </a:solidFill>
          <a:ln/>
        </p:spPr>
      </p:sp>
      <p:sp>
        <p:nvSpPr>
          <p:cNvPr id="13" name="Text 10"/>
          <p:cNvSpPr/>
          <p:nvPr/>
        </p:nvSpPr>
        <p:spPr>
          <a:xfrm>
            <a:off x="6228698" y="5731073"/>
            <a:ext cx="5162322" cy="20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Scenario B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228698" y="5994698"/>
            <a:ext cx="5162322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Simulate → Outcome B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0962"/>
            <a:ext cx="2771408" cy="278110"/>
          </a:xfrm>
          <a:prstGeom prst="roundRect">
            <a:avLst>
              <a:gd name="adj" fmla="val 22123"/>
            </a:avLst>
          </a:prstGeom>
          <a:solidFill>
            <a:srgbClr val="FFD8CC"/>
          </a:solidFill>
          <a:ln/>
        </p:spPr>
      </p:sp>
      <p:sp>
        <p:nvSpPr>
          <p:cNvPr id="3" name="Text 1"/>
          <p:cNvSpPr/>
          <p:nvPr/>
        </p:nvSpPr>
        <p:spPr>
          <a:xfrm>
            <a:off x="771307" y="605830"/>
            <a:ext cx="3161328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OPTIMIZATION &amp; DECISION SUPPORT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900013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From Prediction to Action</a:t>
            </a:r>
            <a:endParaRPr lang="en-US" sz="3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738213"/>
            <a:ext cx="10868745" cy="28760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99780" y="2710663"/>
            <a:ext cx="1642940" cy="588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Crisis Detected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1499780" y="3382696"/>
            <a:ext cx="1642940" cy="463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Identify disruption from predictions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3382469" y="2506373"/>
            <a:ext cx="1642940" cy="588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Evaluate Responses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3382469" y="3178406"/>
            <a:ext cx="1642940" cy="463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List feasible mitigation options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5265158" y="2710663"/>
            <a:ext cx="1642940" cy="588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Simulate Options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5265158" y="3382696"/>
            <a:ext cx="1642940" cy="463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 scenario models for each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147847" y="2212196"/>
            <a:ext cx="1642941" cy="882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Compare Consequences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7147847" y="3178406"/>
            <a:ext cx="1642941" cy="463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Assess outcomes and trade-offs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9040996" y="2710663"/>
            <a:ext cx="1642940" cy="588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Recommended Action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9040996" y="3382696"/>
            <a:ext cx="1642940" cy="463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3000"/>
              </a:lnSpc>
              <a:buNone/>
            </a:pPr>
            <a:r>
              <a:rPr lang="en-US" sz="14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 optimized decision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61475" y="4813796"/>
            <a:ext cx="1086874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ChainMind doesn't stop at predicting disruption. It evaluates response strategies, simulates each option, and surfaces optimized recommendations — giving decision-makers a clearer path from uncertainty to confident action.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61475" y="5590183"/>
            <a:ext cx="10868745" cy="716855"/>
          </a:xfrm>
          <a:prstGeom prst="roundRect">
            <a:avLst>
              <a:gd name="adj" fmla="val 10728"/>
            </a:avLst>
          </a:prstGeom>
          <a:solidFill>
            <a:srgbClr val="FFD8CC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529" y="5843488"/>
            <a:ext cx="228793" cy="18305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56376" y="5813227"/>
            <a:ext cx="10700375" cy="288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ChainMind provides </a:t>
            </a:r>
            <a:pPr algn="l" indent="0" marL="0">
              <a:lnSpc>
                <a:spcPct val="131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decision support</a:t>
            </a:r>
            <a:pPr algn="l" indent="0" marL="0">
              <a:lnSpc>
                <a:spcPct val="131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not autonomous decision-making. Human judgment remains central.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1372359" cy="143470"/>
          </a:xfrm>
          <a:prstGeom prst="roundRect">
            <a:avLst>
              <a:gd name="adj" fmla="val 22134"/>
            </a:avLst>
          </a:prstGeom>
          <a:solidFill>
            <a:srgbClr val="FFD8CC"/>
          </a:solidFill>
          <a:ln/>
        </p:spPr>
      </p:sp>
      <p:sp>
        <p:nvSpPr>
          <p:cNvPr id="3" name="Text 1"/>
          <p:cNvSpPr/>
          <p:nvPr/>
        </p:nvSpPr>
        <p:spPr>
          <a:xfrm>
            <a:off x="718127" y="548084"/>
            <a:ext cx="1868639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55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ARCHITECTURE &amp; DIFFERENTIATION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Built as a Real End-to-End AI Application</a:t>
            </a:r>
            <a:endParaRPr lang="en-US" sz="18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48246"/>
            <a:ext cx="10868745" cy="49741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22865" y="1468309"/>
            <a:ext cx="2404268" cy="30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Simulation &amp; AI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622865" y="1854337"/>
            <a:ext cx="2650038" cy="9016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NetworkX, custom optimization, scikit-learn, optional LLM; SQLite/Postgres; Vercel/Render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50578" y="3373739"/>
            <a:ext cx="2404269" cy="30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Backend API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918521" y="3759767"/>
            <a:ext cx="2436325" cy="3606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FastAPI Python with SQLAlchemy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22865" y="4127764"/>
            <a:ext cx="2404268" cy="3005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Frontend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622865" y="4513792"/>
            <a:ext cx="2650038" cy="540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5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 TypeScript (Vite, Tailwind, Recharts, React Leaflet)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1475" y="6075462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Frontend: React · TypeScript · Vite · Tailwind CSS · Recharts · React Leaflet · Backend: FastAPI · Python · SQLAlchemy · Simulation: NetworkX · Custom logic · AI/ML: scikit-learn · Database: SQLite · PostgreSQL-ready · Deployment: Vercel · Render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61475" y="6259711"/>
            <a:ext cx="108687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Why ChainMind Is Different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61475" y="6566793"/>
            <a:ext cx="3591430" cy="821630"/>
          </a:xfrm>
          <a:prstGeom prst="roundRect">
            <a:avLst>
              <a:gd name="adj" fmla="val 4831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62279" y="6667599"/>
            <a:ext cx="283461" cy="283468"/>
          </a:xfrm>
          <a:prstGeom prst="ellipse">
            <a:avLst/>
          </a:prstGeom>
          <a:solidFill>
            <a:srgbClr val="FFAD94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0263" y="6745585"/>
            <a:ext cx="127493" cy="1274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62279" y="6998295"/>
            <a:ext cx="33898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Simulate, Not Just Monitor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762279" y="7174210"/>
            <a:ext cx="338982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Explore consequences before acting</a:t>
            </a:r>
            <a:endParaRPr lang="en-US" sz="700" dirty="0"/>
          </a:p>
        </p:txBody>
      </p:sp>
      <p:sp>
        <p:nvSpPr>
          <p:cNvPr id="19" name="Shape 15"/>
          <p:cNvSpPr/>
          <p:nvPr/>
        </p:nvSpPr>
        <p:spPr>
          <a:xfrm>
            <a:off x="4300132" y="6566793"/>
            <a:ext cx="3591430" cy="821630"/>
          </a:xfrm>
          <a:prstGeom prst="roundRect">
            <a:avLst>
              <a:gd name="adj" fmla="val 4831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400936" y="6667599"/>
            <a:ext cx="283461" cy="283468"/>
          </a:xfrm>
          <a:prstGeom prst="ellipse">
            <a:avLst/>
          </a:prstGeom>
          <a:solidFill>
            <a:srgbClr val="FFAD94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78920" y="6745585"/>
            <a:ext cx="127493" cy="12749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400936" y="6998295"/>
            <a:ext cx="33898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Network-Aware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400936" y="7174210"/>
            <a:ext cx="338982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Model interconnected effects</a:t>
            </a:r>
            <a:endParaRPr lang="en-US" sz="700" dirty="0"/>
          </a:p>
        </p:txBody>
      </p:sp>
      <p:sp>
        <p:nvSpPr>
          <p:cNvPr id="24" name="Shape 19"/>
          <p:cNvSpPr/>
          <p:nvPr/>
        </p:nvSpPr>
        <p:spPr>
          <a:xfrm>
            <a:off x="7938790" y="6566793"/>
            <a:ext cx="3591430" cy="821630"/>
          </a:xfrm>
          <a:prstGeom prst="roundRect">
            <a:avLst>
              <a:gd name="adj" fmla="val 4831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039593" y="6667599"/>
            <a:ext cx="283461" cy="283468"/>
          </a:xfrm>
          <a:prstGeom prst="ellipse">
            <a:avLst/>
          </a:prstGeom>
          <a:solidFill>
            <a:srgbClr val="FFAD94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17577" y="6745585"/>
            <a:ext cx="127493" cy="12749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039593" y="6998295"/>
            <a:ext cx="338982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AI + Simulation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8039593" y="7174210"/>
            <a:ext cx="3389823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ML prediction meets system simulation</a:t>
            </a:r>
            <a:endParaRPr lang="en-US" sz="700" dirty="0"/>
          </a:p>
        </p:txBody>
      </p:sp>
      <p:sp>
        <p:nvSpPr>
          <p:cNvPr id="29" name="Shape 23"/>
          <p:cNvSpPr/>
          <p:nvPr/>
        </p:nvSpPr>
        <p:spPr>
          <a:xfrm>
            <a:off x="661475" y="7435652"/>
            <a:ext cx="5410759" cy="821630"/>
          </a:xfrm>
          <a:prstGeom prst="roundRect">
            <a:avLst>
              <a:gd name="adj" fmla="val 4831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62279" y="7536458"/>
            <a:ext cx="283461" cy="283468"/>
          </a:xfrm>
          <a:prstGeom prst="ellipse">
            <a:avLst/>
          </a:prstGeom>
          <a:solidFill>
            <a:srgbClr val="FFAD94"/>
          </a:solidFill>
          <a:ln/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0263" y="7614444"/>
            <a:ext cx="127493" cy="127496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62279" y="7867154"/>
            <a:ext cx="520915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What-If Decision Support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762279" y="8043069"/>
            <a:ext cx="520915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Compare scenarios before committing</a:t>
            </a:r>
            <a:endParaRPr lang="en-US" sz="700" dirty="0"/>
          </a:p>
        </p:txBody>
      </p:sp>
      <p:sp>
        <p:nvSpPr>
          <p:cNvPr id="34" name="Shape 27"/>
          <p:cNvSpPr/>
          <p:nvPr/>
        </p:nvSpPr>
        <p:spPr>
          <a:xfrm>
            <a:off x="6119461" y="7435652"/>
            <a:ext cx="5410759" cy="821630"/>
          </a:xfrm>
          <a:prstGeom prst="roundRect">
            <a:avLst>
              <a:gd name="adj" fmla="val 4831"/>
            </a:avLst>
          </a:prstGeom>
          <a:solidFill>
            <a:srgbClr val="FFD8CC"/>
          </a:solidFill>
          <a:ln w="6350">
            <a:solidFill>
              <a:srgbClr val="E5BEB2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220265" y="7536458"/>
            <a:ext cx="283461" cy="283468"/>
          </a:xfrm>
          <a:prstGeom prst="ellipse">
            <a:avLst/>
          </a:prstGeom>
          <a:solidFill>
            <a:srgbClr val="FFAD94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98249" y="7614444"/>
            <a:ext cx="127493" cy="12749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220265" y="7867154"/>
            <a:ext cx="5209152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dirty="0">
                <a:solidFill>
                  <a:srgbClr val="403C4E"/>
                </a:solidFill>
                <a:latin typeface="Merriweather Bold" pitchFamily="34" charset="0"/>
                <a:ea typeface="Merriweather Bold" pitchFamily="34" charset="-122"/>
                <a:cs typeface="Merriweather Bold" pitchFamily="34" charset="-120"/>
              </a:rPr>
              <a:t>Optimization</a:t>
            </a:r>
            <a:endParaRPr lang="en-US" sz="900" dirty="0"/>
          </a:p>
        </p:txBody>
      </p:sp>
      <p:sp>
        <p:nvSpPr>
          <p:cNvPr id="38" name="Text 30"/>
          <p:cNvSpPr/>
          <p:nvPr/>
        </p:nvSpPr>
        <p:spPr>
          <a:xfrm>
            <a:off x="6220265" y="8043069"/>
            <a:ext cx="5209152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dirty="0">
                <a:solidFill>
                  <a:srgbClr val="403C4E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From "what might happen" to "what should we do"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2026-09-15T09:42:55Z</dcterms:created>
  <dcterms:modified xsi:type="dcterms:W3CDTF">2026-09-15T09:42:55Z</dcterms:modified>
</cp:coreProperties>
</file>